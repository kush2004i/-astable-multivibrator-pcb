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7" r:id="rId2"/>
    <p:sldId id="258" r:id="rId3"/>
    <p:sldId id="259" r:id="rId4"/>
    <p:sldId id="260" r:id="rId5"/>
    <p:sldId id="274" r:id="rId6"/>
    <p:sldId id="277" r:id="rId7"/>
    <p:sldId id="276" r:id="rId8"/>
    <p:sldId id="275" r:id="rId9"/>
    <p:sldId id="273" r:id="rId10"/>
    <p:sldId id="278" r:id="rId11"/>
    <p:sldId id="279" r:id="rId12"/>
    <p:sldId id="280" r:id="rId13"/>
    <p:sldId id="281" r:id="rId14"/>
    <p:sldId id="282" r:id="rId15"/>
    <p:sldId id="283"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2B72E0E-D64A-49A6-B84F-137E9A698DD4}"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2D8CA3-5F64-4E60-B423-B8BBB5DC5A87}" type="slidenum">
              <a:rPr lang="en-IN" smtClean="0"/>
              <a:t>‹#›</a:t>
            </a:fld>
            <a:endParaRPr lang="en-IN"/>
          </a:p>
        </p:txBody>
      </p:sp>
    </p:spTree>
    <p:extLst>
      <p:ext uri="{BB962C8B-B14F-4D97-AF65-F5344CB8AC3E}">
        <p14:creationId xmlns:p14="http://schemas.microsoft.com/office/powerpoint/2010/main" val="3904376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B72E0E-D64A-49A6-B84F-137E9A698DD4}"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2D8CA3-5F64-4E60-B423-B8BBB5DC5A87}" type="slidenum">
              <a:rPr lang="en-IN" smtClean="0"/>
              <a:t>‹#›</a:t>
            </a:fld>
            <a:endParaRPr lang="en-IN"/>
          </a:p>
        </p:txBody>
      </p:sp>
    </p:spTree>
    <p:extLst>
      <p:ext uri="{BB962C8B-B14F-4D97-AF65-F5344CB8AC3E}">
        <p14:creationId xmlns:p14="http://schemas.microsoft.com/office/powerpoint/2010/main" val="2136302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B72E0E-D64A-49A6-B84F-137E9A698DD4}"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2D8CA3-5F64-4E60-B423-B8BBB5DC5A87}" type="slidenum">
              <a:rPr lang="en-IN" smtClean="0"/>
              <a:t>‹#›</a:t>
            </a:fld>
            <a:endParaRPr lang="en-IN"/>
          </a:p>
        </p:txBody>
      </p:sp>
    </p:spTree>
    <p:extLst>
      <p:ext uri="{BB962C8B-B14F-4D97-AF65-F5344CB8AC3E}">
        <p14:creationId xmlns:p14="http://schemas.microsoft.com/office/powerpoint/2010/main" val="4075306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2B72E0E-D64A-49A6-B84F-137E9A698DD4}" type="datetimeFigureOut">
              <a:rPr lang="en-IN" smtClean="0"/>
              <a:t>08-05-2026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2D8CA3-5F64-4E60-B423-B8BBB5DC5A87}" type="slidenum">
              <a:rPr lang="en-IN" smtClean="0"/>
              <a:t>‹#›</a:t>
            </a:fld>
            <a:endParaRPr lang="en-IN"/>
          </a:p>
        </p:txBody>
      </p:sp>
    </p:spTree>
    <p:extLst>
      <p:ext uri="{BB962C8B-B14F-4D97-AF65-F5344CB8AC3E}">
        <p14:creationId xmlns:p14="http://schemas.microsoft.com/office/powerpoint/2010/main" val="1894818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2B72E0E-D64A-49A6-B84F-137E9A698DD4}" type="datetimeFigureOut">
              <a:rPr lang="en-IN" smtClean="0"/>
              <a:t>08-05-2026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42D8CA3-5F64-4E60-B423-B8BBB5DC5A87}" type="slidenum">
              <a:rPr lang="en-IN" smtClean="0"/>
              <a:t>‹#›</a:t>
            </a:fld>
            <a:endParaRPr lang="en-IN"/>
          </a:p>
        </p:txBody>
      </p:sp>
    </p:spTree>
    <p:extLst>
      <p:ext uri="{BB962C8B-B14F-4D97-AF65-F5344CB8AC3E}">
        <p14:creationId xmlns:p14="http://schemas.microsoft.com/office/powerpoint/2010/main" val="434122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2B72E0E-D64A-49A6-B84F-137E9A698DD4}" type="datetimeFigureOut">
              <a:rPr lang="en-IN" smtClean="0"/>
              <a:t>08-05-2026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42D8CA3-5F64-4E60-B423-B8BBB5DC5A87}" type="slidenum">
              <a:rPr lang="en-IN" smtClean="0"/>
              <a:t>‹#›</a:t>
            </a:fld>
            <a:endParaRPr lang="en-IN"/>
          </a:p>
        </p:txBody>
      </p:sp>
    </p:spTree>
    <p:extLst>
      <p:ext uri="{BB962C8B-B14F-4D97-AF65-F5344CB8AC3E}">
        <p14:creationId xmlns:p14="http://schemas.microsoft.com/office/powerpoint/2010/main" val="2392761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52B72E0E-D64A-49A6-B84F-137E9A698DD4}" type="datetimeFigureOut">
              <a:rPr lang="en-IN" smtClean="0"/>
              <a:t>08-05-2026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42D8CA3-5F64-4E60-B423-B8BBB5DC5A87}" type="slidenum">
              <a:rPr lang="en-IN" smtClean="0"/>
              <a:t>‹#›</a:t>
            </a:fld>
            <a:endParaRPr lang="en-IN"/>
          </a:p>
        </p:txBody>
      </p:sp>
    </p:spTree>
    <p:extLst>
      <p:ext uri="{BB962C8B-B14F-4D97-AF65-F5344CB8AC3E}">
        <p14:creationId xmlns:p14="http://schemas.microsoft.com/office/powerpoint/2010/main" val="2502102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B72E0E-D64A-49A6-B84F-137E9A698DD4}" type="datetimeFigureOut">
              <a:rPr lang="en-IN" smtClean="0"/>
              <a:t>08-05-2026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2D8CA3-5F64-4E60-B423-B8BBB5DC5A87}" type="slidenum">
              <a:rPr lang="en-IN" smtClean="0"/>
              <a:t>‹#›</a:t>
            </a:fld>
            <a:endParaRPr lang="en-IN"/>
          </a:p>
        </p:txBody>
      </p:sp>
    </p:spTree>
    <p:extLst>
      <p:ext uri="{BB962C8B-B14F-4D97-AF65-F5344CB8AC3E}">
        <p14:creationId xmlns:p14="http://schemas.microsoft.com/office/powerpoint/2010/main" val="3298431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B72E0E-D64A-49A6-B84F-137E9A698DD4}" type="datetimeFigureOut">
              <a:rPr lang="en-IN" smtClean="0"/>
              <a:t>08-05-2026</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42D8CA3-5F64-4E60-B423-B8BBB5DC5A87}" type="slidenum">
              <a:rPr lang="en-IN" smtClean="0"/>
              <a:t>‹#›</a:t>
            </a:fld>
            <a:endParaRPr lang="en-IN"/>
          </a:p>
        </p:txBody>
      </p:sp>
    </p:spTree>
    <p:extLst>
      <p:ext uri="{BB962C8B-B14F-4D97-AF65-F5344CB8AC3E}">
        <p14:creationId xmlns:p14="http://schemas.microsoft.com/office/powerpoint/2010/main" val="2334285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B72E0E-D64A-49A6-B84F-137E9A698DD4}" type="datetimeFigureOut">
              <a:rPr lang="en-IN" smtClean="0"/>
              <a:t>08-05-2026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2D8CA3-5F64-4E60-B423-B8BBB5DC5A87}" type="slidenum">
              <a:rPr lang="en-IN" smtClean="0"/>
              <a:t>‹#›</a:t>
            </a:fld>
            <a:endParaRPr lang="en-IN"/>
          </a:p>
        </p:txBody>
      </p:sp>
    </p:spTree>
    <p:extLst>
      <p:ext uri="{BB962C8B-B14F-4D97-AF65-F5344CB8AC3E}">
        <p14:creationId xmlns:p14="http://schemas.microsoft.com/office/powerpoint/2010/main" val="736505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B72E0E-D64A-49A6-B84F-137E9A698DD4}" type="datetimeFigureOut">
              <a:rPr lang="en-IN" smtClean="0"/>
              <a:t>08-05-2026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2D8CA3-5F64-4E60-B423-B8BBB5DC5A87}" type="slidenum">
              <a:rPr lang="en-IN" smtClean="0"/>
              <a:t>‹#›</a:t>
            </a:fld>
            <a:endParaRPr lang="en-IN"/>
          </a:p>
        </p:txBody>
      </p:sp>
    </p:spTree>
    <p:extLst>
      <p:ext uri="{BB962C8B-B14F-4D97-AF65-F5344CB8AC3E}">
        <p14:creationId xmlns:p14="http://schemas.microsoft.com/office/powerpoint/2010/main" val="19595646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B72E0E-D64A-49A6-B84F-137E9A698DD4}" type="datetimeFigureOut">
              <a:rPr lang="en-IN" smtClean="0"/>
              <a:t>08-05-2026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2D8CA3-5F64-4E60-B423-B8BBB5DC5A87}"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048924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B72E0E-D64A-49A6-B84F-137E9A698DD4}" type="datetimeFigureOut">
              <a:rPr lang="en-IN" smtClean="0"/>
              <a:t>08-05-2026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2D8CA3-5F64-4E60-B423-B8BBB5DC5A87}" type="slidenum">
              <a:rPr lang="en-IN" smtClean="0"/>
              <a:t>‹#›</a:t>
            </a:fld>
            <a:endParaRPr lang="en-IN"/>
          </a:p>
        </p:txBody>
      </p:sp>
    </p:spTree>
    <p:extLst>
      <p:ext uri="{BB962C8B-B14F-4D97-AF65-F5344CB8AC3E}">
        <p14:creationId xmlns:p14="http://schemas.microsoft.com/office/powerpoint/2010/main" val="42404317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2B72E0E-D64A-49A6-B84F-137E9A698DD4}" type="datetimeFigureOut">
              <a:rPr lang="en-IN" smtClean="0"/>
              <a:t>08-05-2026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42D8CA3-5F64-4E60-B423-B8BBB5DC5A87}" type="slidenum">
              <a:rPr lang="en-IN" smtClean="0"/>
              <a:t>‹#›</a:t>
            </a:fld>
            <a:endParaRPr lang="en-IN"/>
          </a:p>
        </p:txBody>
      </p:sp>
    </p:spTree>
    <p:extLst>
      <p:ext uri="{BB962C8B-B14F-4D97-AF65-F5344CB8AC3E}">
        <p14:creationId xmlns:p14="http://schemas.microsoft.com/office/powerpoint/2010/main" val="30974684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2B72E0E-D64A-49A6-B84F-137E9A698DD4}" type="datetimeFigureOut">
              <a:rPr lang="en-IN" smtClean="0"/>
              <a:t>08-05-2026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42D8CA3-5F64-4E60-B423-B8BBB5DC5A87}" type="slidenum">
              <a:rPr lang="en-IN" smtClean="0"/>
              <a:t>‹#›</a:t>
            </a:fld>
            <a:endParaRPr lang="en-IN"/>
          </a:p>
        </p:txBody>
      </p:sp>
    </p:spTree>
    <p:extLst>
      <p:ext uri="{BB962C8B-B14F-4D97-AF65-F5344CB8AC3E}">
        <p14:creationId xmlns:p14="http://schemas.microsoft.com/office/powerpoint/2010/main" val="31440594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B72E0E-D64A-49A6-B84F-137E9A698DD4}"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2D8CA3-5F64-4E60-B423-B8BBB5DC5A87}" type="slidenum">
              <a:rPr lang="en-IN" smtClean="0"/>
              <a:t>‹#›</a:t>
            </a:fld>
            <a:endParaRPr lang="en-IN"/>
          </a:p>
        </p:txBody>
      </p:sp>
    </p:spTree>
    <p:extLst>
      <p:ext uri="{BB962C8B-B14F-4D97-AF65-F5344CB8AC3E}">
        <p14:creationId xmlns:p14="http://schemas.microsoft.com/office/powerpoint/2010/main" val="26441864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B72E0E-D64A-49A6-B84F-137E9A698DD4}"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2D8CA3-5F64-4E60-B423-B8BBB5DC5A87}" type="slidenum">
              <a:rPr lang="en-IN" smtClean="0"/>
              <a:t>‹#›</a:t>
            </a:fld>
            <a:endParaRPr lang="en-IN"/>
          </a:p>
        </p:txBody>
      </p:sp>
    </p:spTree>
    <p:extLst>
      <p:ext uri="{BB962C8B-B14F-4D97-AF65-F5344CB8AC3E}">
        <p14:creationId xmlns:p14="http://schemas.microsoft.com/office/powerpoint/2010/main" val="3161144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B72E0E-D64A-49A6-B84F-137E9A698DD4}"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2D8CA3-5F64-4E60-B423-B8BBB5DC5A87}" type="slidenum">
              <a:rPr lang="en-IN" smtClean="0"/>
              <a:t>‹#›</a:t>
            </a:fld>
            <a:endParaRPr lang="en-IN"/>
          </a:p>
        </p:txBody>
      </p:sp>
    </p:spTree>
    <p:extLst>
      <p:ext uri="{BB962C8B-B14F-4D97-AF65-F5344CB8AC3E}">
        <p14:creationId xmlns:p14="http://schemas.microsoft.com/office/powerpoint/2010/main" val="2424342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52B72E0E-D64A-49A6-B84F-137E9A698DD4}" type="datetimeFigureOut">
              <a:rPr lang="en-IN" smtClean="0"/>
              <a:t>08-05-2026</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D42D8CA3-5F64-4E60-B423-B8BBB5DC5A87}" type="slidenum">
              <a:rPr lang="en-IN" smtClean="0"/>
              <a:t>‹#›</a:t>
            </a:fld>
            <a:endParaRPr lang="en-IN"/>
          </a:p>
        </p:txBody>
      </p:sp>
    </p:spTree>
    <p:extLst>
      <p:ext uri="{BB962C8B-B14F-4D97-AF65-F5344CB8AC3E}">
        <p14:creationId xmlns:p14="http://schemas.microsoft.com/office/powerpoint/2010/main" val="269085080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8.xml"/><Relationship Id="rId5" Type="http://schemas.openxmlformats.org/officeDocument/2006/relationships/image" Target="../media/image7.jpe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8.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98A1B-9F41-5A06-9CA9-F2ED62FB9469}"/>
              </a:ext>
            </a:extLst>
          </p:cNvPr>
          <p:cNvSpPr>
            <a:spLocks noGrp="1"/>
          </p:cNvSpPr>
          <p:nvPr>
            <p:ph type="title"/>
          </p:nvPr>
        </p:nvSpPr>
        <p:spPr>
          <a:xfrm>
            <a:off x="913775" y="618517"/>
            <a:ext cx="10364451" cy="4988907"/>
          </a:xfrm>
        </p:spPr>
        <p:txBody>
          <a:bodyPr/>
          <a:lstStyle/>
          <a:p>
            <a:r>
              <a:rPr lang="en-IN" dirty="0"/>
              <a:t>PROJECT TITLE </a:t>
            </a:r>
            <a:br>
              <a:rPr lang="en-IN" dirty="0"/>
            </a:br>
            <a:br>
              <a:rPr lang="en-IN" dirty="0"/>
            </a:br>
            <a:r>
              <a:rPr lang="en-IN" dirty="0">
                <a:solidFill>
                  <a:srgbClr val="7030A0"/>
                </a:solidFill>
              </a:rPr>
              <a:t>NE555 LED Blinking Timer Circuit</a:t>
            </a:r>
          </a:p>
        </p:txBody>
      </p:sp>
    </p:spTree>
    <p:extLst>
      <p:ext uri="{BB962C8B-B14F-4D97-AF65-F5344CB8AC3E}">
        <p14:creationId xmlns:p14="http://schemas.microsoft.com/office/powerpoint/2010/main" val="2750144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D9DBB-1418-F578-5CB1-092C69476580}"/>
              </a:ext>
            </a:extLst>
          </p:cNvPr>
          <p:cNvSpPr>
            <a:spLocks noGrp="1"/>
          </p:cNvSpPr>
          <p:nvPr>
            <p:ph type="title"/>
          </p:nvPr>
        </p:nvSpPr>
        <p:spPr>
          <a:xfrm>
            <a:off x="738964" y="0"/>
            <a:ext cx="10364451" cy="1596177"/>
          </a:xfrm>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ADB409D2-7E43-EC73-918A-163BD1463ACB}"/>
              </a:ext>
            </a:extLst>
          </p:cNvPr>
          <p:cNvSpPr>
            <a:spLocks noGrp="1"/>
          </p:cNvSpPr>
          <p:nvPr>
            <p:ph idx="1"/>
          </p:nvPr>
        </p:nvSpPr>
        <p:spPr>
          <a:xfrm>
            <a:off x="738964" y="1425182"/>
            <a:ext cx="10364452" cy="4599100"/>
          </a:xfrm>
        </p:spPr>
        <p:txBody>
          <a:bodyPr>
            <a:normAutofit/>
          </a:bodyPr>
          <a:lstStyle/>
          <a:p>
            <a:r>
              <a:rPr lang="en-US" cap="none" dirty="0">
                <a:latin typeface="Times New Roman" panose="02020603050405020304" pitchFamily="18" charset="0"/>
                <a:cs typeface="Times New Roman" panose="02020603050405020304" pitchFamily="18" charset="0"/>
              </a:rPr>
              <a:t>A blinking LED timer circuit is an electronic circuit that continuously turns an LED ON and OFF at regular intervals.</a:t>
            </a:r>
          </a:p>
          <a:p>
            <a:r>
              <a:rPr lang="en-US" cap="none" dirty="0">
                <a:latin typeface="Times New Roman" panose="02020603050405020304" pitchFamily="18" charset="0"/>
                <a:cs typeface="Times New Roman" panose="02020603050405020304" pitchFamily="18" charset="0"/>
              </a:rPr>
              <a:t>The circuit uses the NE555 timer IC, which is a popular timer and pulse generation IC. </a:t>
            </a:r>
          </a:p>
          <a:p>
            <a:r>
              <a:rPr lang="en-US" cap="none" dirty="0">
                <a:latin typeface="Times New Roman" panose="02020603050405020304" pitchFamily="18" charset="0"/>
                <a:cs typeface="Times New Roman" panose="02020603050405020304" pitchFamily="18" charset="0"/>
              </a:rPr>
              <a:t>The NE555 operates in astable mode to generate continuous square wave pulses. </a:t>
            </a:r>
          </a:p>
          <a:p>
            <a:r>
              <a:rPr lang="en-US" cap="none" dirty="0">
                <a:latin typeface="Times New Roman" panose="02020603050405020304" pitchFamily="18" charset="0"/>
                <a:cs typeface="Times New Roman" panose="02020603050405020304" pitchFamily="18" charset="0"/>
              </a:rPr>
              <a:t>These pulses control the blinking of the LED automatically.</a:t>
            </a:r>
          </a:p>
          <a:p>
            <a:r>
              <a:rPr lang="en-US" cap="none" dirty="0">
                <a:latin typeface="Times New Roman" panose="02020603050405020304" pitchFamily="18" charset="0"/>
                <a:cs typeface="Times New Roman" panose="02020603050405020304" pitchFamily="18" charset="0"/>
              </a:rPr>
              <a:t>Produces repetitive ON/OFF signals </a:t>
            </a:r>
          </a:p>
          <a:p>
            <a:r>
              <a:rPr lang="en-US" cap="none" dirty="0">
                <a:latin typeface="Times New Roman" panose="02020603050405020304" pitchFamily="18" charset="0"/>
                <a:cs typeface="Times New Roman" panose="02020603050405020304" pitchFamily="18" charset="0"/>
              </a:rPr>
              <a:t>controls LED blinking speed using resistors and capacitors </a:t>
            </a:r>
          </a:p>
          <a:p>
            <a:r>
              <a:rPr lang="en-US" cap="none" dirty="0">
                <a:latin typeface="Times New Roman" panose="02020603050405020304" pitchFamily="18" charset="0"/>
                <a:cs typeface="Times New Roman" panose="02020603050405020304" pitchFamily="18" charset="0"/>
              </a:rPr>
              <a:t>demonstrates timer and oscillator concepts </a:t>
            </a:r>
          </a:p>
          <a:p>
            <a:r>
              <a:rPr lang="en-US" cap="none" dirty="0">
                <a:latin typeface="Times New Roman" panose="02020603050405020304" pitchFamily="18" charset="0"/>
                <a:cs typeface="Times New Roman" panose="02020603050405020304" pitchFamily="18" charset="0"/>
              </a:rPr>
              <a:t>used in alarms, indicators, flashers, and pulse circuits</a:t>
            </a:r>
            <a:endParaRPr lang="en-IN"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286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1C2B5-B55D-28C6-8953-3494C56813E7}"/>
              </a:ext>
            </a:extLst>
          </p:cNvPr>
          <p:cNvSpPr>
            <a:spLocks noGrp="1"/>
          </p:cNvSpPr>
          <p:nvPr>
            <p:ph type="title"/>
          </p:nvPr>
        </p:nvSpPr>
        <p:spPr>
          <a:xfrm>
            <a:off x="913774" y="0"/>
            <a:ext cx="10364451" cy="1596177"/>
          </a:xfrm>
        </p:spPr>
        <p:txBody>
          <a:bodyPr/>
          <a:lstStyle/>
          <a:p>
            <a:r>
              <a:rPr lang="en-IN" dirty="0"/>
              <a:t>PROJECT Design Flow</a:t>
            </a:r>
          </a:p>
        </p:txBody>
      </p:sp>
      <p:sp>
        <p:nvSpPr>
          <p:cNvPr id="3" name="Content Placeholder 2">
            <a:extLst>
              <a:ext uri="{FF2B5EF4-FFF2-40B4-BE49-F238E27FC236}">
                <a16:creationId xmlns:a16="http://schemas.microsoft.com/office/drawing/2014/main" id="{E99E32D2-E00C-5655-0BDE-95913861F332}"/>
              </a:ext>
            </a:extLst>
          </p:cNvPr>
          <p:cNvSpPr>
            <a:spLocks noGrp="1"/>
          </p:cNvSpPr>
          <p:nvPr>
            <p:ph idx="1"/>
          </p:nvPr>
        </p:nvSpPr>
        <p:spPr>
          <a:xfrm>
            <a:off x="1115480" y="1596177"/>
            <a:ext cx="10364452" cy="4329542"/>
          </a:xfrm>
        </p:spPr>
        <p:txBody>
          <a:bodyPr>
            <a:normAutofit fontScale="92500" lnSpcReduction="20000"/>
          </a:bodyPr>
          <a:lstStyle/>
          <a:p>
            <a:r>
              <a:rPr lang="en-IN" cap="none" dirty="0">
                <a:latin typeface="Times New Roman" panose="02020603050405020304" pitchFamily="18" charset="0"/>
                <a:cs typeface="Times New Roman" panose="02020603050405020304" pitchFamily="18" charset="0"/>
              </a:rPr>
              <a:t>Schematic design</a:t>
            </a:r>
          </a:p>
          <a:p>
            <a:r>
              <a:rPr lang="en-IN" cap="none" dirty="0">
                <a:latin typeface="Times New Roman" panose="02020603050405020304" pitchFamily="18" charset="0"/>
                <a:cs typeface="Times New Roman" panose="02020603050405020304" pitchFamily="18" charset="0"/>
              </a:rPr>
              <a:t> ERC</a:t>
            </a:r>
          </a:p>
          <a:p>
            <a:r>
              <a:rPr lang="en-IN" cap="none" dirty="0">
                <a:latin typeface="Times New Roman" panose="02020603050405020304" pitchFamily="18" charset="0"/>
                <a:cs typeface="Times New Roman" panose="02020603050405020304" pitchFamily="18" charset="0"/>
              </a:rPr>
              <a:t>Verification footprint assignment </a:t>
            </a:r>
          </a:p>
          <a:p>
            <a:r>
              <a:rPr lang="en-IN" cap="none" dirty="0">
                <a:latin typeface="Times New Roman" panose="02020603050405020304" pitchFamily="18" charset="0"/>
                <a:cs typeface="Times New Roman" panose="02020603050405020304" pitchFamily="18" charset="0"/>
              </a:rPr>
              <a:t>PCB layout design </a:t>
            </a:r>
          </a:p>
          <a:p>
            <a:r>
              <a:rPr lang="en-IN" cap="none" dirty="0">
                <a:latin typeface="Times New Roman" panose="02020603050405020304" pitchFamily="18" charset="0"/>
                <a:cs typeface="Times New Roman" panose="02020603050405020304" pitchFamily="18" charset="0"/>
              </a:rPr>
              <a:t>Component placement</a:t>
            </a:r>
          </a:p>
          <a:p>
            <a:r>
              <a:rPr lang="en-IN" cap="none" dirty="0">
                <a:latin typeface="Times New Roman" panose="02020603050405020304" pitchFamily="18" charset="0"/>
                <a:cs typeface="Times New Roman" panose="02020603050405020304" pitchFamily="18" charset="0"/>
              </a:rPr>
              <a:t>PCB routing </a:t>
            </a:r>
          </a:p>
          <a:p>
            <a:r>
              <a:rPr lang="en-IN" cap="none" dirty="0">
                <a:latin typeface="Times New Roman" panose="02020603050405020304" pitchFamily="18" charset="0"/>
                <a:cs typeface="Times New Roman" panose="02020603050405020304" pitchFamily="18" charset="0"/>
              </a:rPr>
              <a:t>Board outline creation </a:t>
            </a:r>
          </a:p>
          <a:p>
            <a:r>
              <a:rPr lang="en-IN" cap="none" dirty="0">
                <a:latin typeface="Times New Roman" panose="02020603050405020304" pitchFamily="18" charset="0"/>
                <a:cs typeface="Times New Roman" panose="02020603050405020304" pitchFamily="18" charset="0"/>
              </a:rPr>
              <a:t>DRC verification</a:t>
            </a:r>
          </a:p>
          <a:p>
            <a:r>
              <a:rPr lang="en-IN" cap="none" dirty="0">
                <a:latin typeface="Times New Roman" panose="02020603050405020304" pitchFamily="18" charset="0"/>
                <a:cs typeface="Times New Roman" panose="02020603050405020304" pitchFamily="18" charset="0"/>
              </a:rPr>
              <a:t>3D PCB visualization</a:t>
            </a:r>
          </a:p>
          <a:p>
            <a:r>
              <a:rPr lang="en-IN" cap="none" dirty="0">
                <a:latin typeface="Times New Roman" panose="02020603050405020304" pitchFamily="18" charset="0"/>
                <a:cs typeface="Times New Roman" panose="02020603050405020304" pitchFamily="18" charset="0"/>
              </a:rPr>
              <a:t>Gerber file generation</a:t>
            </a:r>
          </a:p>
        </p:txBody>
      </p:sp>
    </p:spTree>
    <p:extLst>
      <p:ext uri="{BB962C8B-B14F-4D97-AF65-F5344CB8AC3E}">
        <p14:creationId xmlns:p14="http://schemas.microsoft.com/office/powerpoint/2010/main" val="1256554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9DD78-665C-2D7A-A5BD-61A30475C1E3}"/>
              </a:ext>
            </a:extLst>
          </p:cNvPr>
          <p:cNvSpPr>
            <a:spLocks noGrp="1"/>
          </p:cNvSpPr>
          <p:nvPr>
            <p:ph type="title"/>
          </p:nvPr>
        </p:nvSpPr>
        <p:spPr>
          <a:xfrm>
            <a:off x="913774" y="-242095"/>
            <a:ext cx="10364451" cy="1596177"/>
          </a:xfrm>
        </p:spPr>
        <p:txBody>
          <a:bodyPr/>
          <a:lstStyle/>
          <a:p>
            <a:r>
              <a:rPr lang="en-US" dirty="0"/>
              <a:t>COMPONENTS USED</a:t>
            </a:r>
            <a:endParaRPr lang="en-IN" dirty="0"/>
          </a:p>
        </p:txBody>
      </p:sp>
      <p:sp>
        <p:nvSpPr>
          <p:cNvPr id="3" name="Content Placeholder 2">
            <a:extLst>
              <a:ext uri="{FF2B5EF4-FFF2-40B4-BE49-F238E27FC236}">
                <a16:creationId xmlns:a16="http://schemas.microsoft.com/office/drawing/2014/main" id="{49087D90-1A15-F3C7-4212-DB86BDB1A209}"/>
              </a:ext>
            </a:extLst>
          </p:cNvPr>
          <p:cNvSpPr>
            <a:spLocks noGrp="1"/>
          </p:cNvSpPr>
          <p:nvPr>
            <p:ph idx="1"/>
          </p:nvPr>
        </p:nvSpPr>
        <p:spPr>
          <a:xfrm>
            <a:off x="1048245" y="1354082"/>
            <a:ext cx="10364452" cy="4221966"/>
          </a:xfrm>
        </p:spPr>
        <p:txBody>
          <a:bodyPr>
            <a:normAutofit/>
          </a:bodyPr>
          <a:lstStyle/>
          <a:p>
            <a:r>
              <a:rPr lang="en-US" cap="none" dirty="0">
                <a:latin typeface="Times New Roman" panose="02020603050405020304" pitchFamily="18" charset="0"/>
                <a:cs typeface="Times New Roman" panose="02020603050405020304" pitchFamily="18" charset="0"/>
              </a:rPr>
              <a:t>NE555 timer</a:t>
            </a:r>
          </a:p>
          <a:p>
            <a:r>
              <a:rPr lang="en-US" cap="none" dirty="0">
                <a:latin typeface="Times New Roman" panose="02020603050405020304" pitchFamily="18" charset="0"/>
                <a:cs typeface="Times New Roman" panose="02020603050405020304" pitchFamily="18" charset="0"/>
              </a:rPr>
              <a:t>Resistors </a:t>
            </a:r>
          </a:p>
          <a:p>
            <a:r>
              <a:rPr lang="en-US" cap="none" dirty="0">
                <a:latin typeface="Times New Roman" panose="02020603050405020304" pitchFamily="18" charset="0"/>
                <a:cs typeface="Times New Roman" panose="02020603050405020304" pitchFamily="18" charset="0"/>
              </a:rPr>
              <a:t>Capacitors </a:t>
            </a:r>
          </a:p>
          <a:p>
            <a:r>
              <a:rPr lang="en-US" cap="none" dirty="0">
                <a:latin typeface="Times New Roman" panose="02020603050405020304" pitchFamily="18" charset="0"/>
                <a:cs typeface="Times New Roman" panose="02020603050405020304" pitchFamily="18" charset="0"/>
              </a:rPr>
              <a:t>LED</a:t>
            </a:r>
          </a:p>
          <a:p>
            <a:r>
              <a:rPr lang="en-US" cap="none" dirty="0">
                <a:latin typeface="Times New Roman" panose="02020603050405020304" pitchFamily="18" charset="0"/>
                <a:cs typeface="Times New Roman" panose="02020603050405020304" pitchFamily="18" charset="0"/>
              </a:rPr>
              <a:t> 2-pin connector </a:t>
            </a:r>
          </a:p>
          <a:p>
            <a:r>
              <a:rPr lang="en-US" cap="none" dirty="0">
                <a:latin typeface="Times New Roman" panose="02020603050405020304" pitchFamily="18" charset="0"/>
                <a:cs typeface="Times New Roman" panose="02020603050405020304" pitchFamily="18" charset="0"/>
              </a:rPr>
              <a:t>PCB board </a:t>
            </a:r>
          </a:p>
          <a:p>
            <a:r>
              <a:rPr lang="en-US" cap="none" dirty="0">
                <a:latin typeface="Times New Roman" panose="02020603050405020304" pitchFamily="18" charset="0"/>
                <a:cs typeface="Times New Roman" panose="02020603050405020304" pitchFamily="18" charset="0"/>
              </a:rPr>
              <a:t>Copper tracks</a:t>
            </a:r>
          </a:p>
          <a:p>
            <a:r>
              <a:rPr lang="en-US" cap="none" dirty="0">
                <a:latin typeface="Times New Roman" panose="02020603050405020304" pitchFamily="18" charset="0"/>
                <a:cs typeface="Times New Roman" panose="02020603050405020304" pitchFamily="18" charset="0"/>
              </a:rPr>
              <a:t> Power supply source</a:t>
            </a:r>
            <a:endParaRPr lang="en-IN" cap="none" dirty="0">
              <a:latin typeface="Times New Roman" panose="02020603050405020304" pitchFamily="18" charset="0"/>
              <a:cs typeface="Times New Roman" panose="02020603050405020304" pitchFamily="18" charset="0"/>
            </a:endParaRPr>
          </a:p>
        </p:txBody>
      </p:sp>
      <p:pic>
        <p:nvPicPr>
          <p:cNvPr id="4" name="Picture 3" descr="555 timer IC - Wikipedia">
            <a:extLst>
              <a:ext uri="{FF2B5EF4-FFF2-40B4-BE49-F238E27FC236}">
                <a16:creationId xmlns:a16="http://schemas.microsoft.com/office/drawing/2014/main" id="{1CA2CA72-0C39-85D4-FC27-6619E6683A07}"/>
              </a:ext>
            </a:extLst>
          </p:cNvPr>
          <p:cNvPicPr>
            <a:picLocks noChangeAspect="1"/>
          </p:cNvPicPr>
          <p:nvPr/>
        </p:nvPicPr>
        <p:blipFill>
          <a:blip r:embed="rId2"/>
          <a:stretch>
            <a:fillRect/>
          </a:stretch>
        </p:blipFill>
        <p:spPr>
          <a:xfrm>
            <a:off x="4996983" y="1102409"/>
            <a:ext cx="2466975" cy="1847850"/>
          </a:xfrm>
          <a:prstGeom prst="rect">
            <a:avLst/>
          </a:prstGeom>
        </p:spPr>
      </p:pic>
      <p:pic>
        <p:nvPicPr>
          <p:cNvPr id="5" name="Picture 4" descr="RS PRO 1kΩ Carbon Film Resistor 1W ±5 ...">
            <a:extLst>
              <a:ext uri="{FF2B5EF4-FFF2-40B4-BE49-F238E27FC236}">
                <a16:creationId xmlns:a16="http://schemas.microsoft.com/office/drawing/2014/main" id="{FD9B3F7C-5497-66E6-D47E-0479C95A3643}"/>
              </a:ext>
            </a:extLst>
          </p:cNvPr>
          <p:cNvPicPr>
            <a:picLocks noChangeAspect="1"/>
          </p:cNvPicPr>
          <p:nvPr/>
        </p:nvPicPr>
        <p:blipFill>
          <a:blip r:embed="rId3"/>
          <a:stretch>
            <a:fillRect/>
          </a:stretch>
        </p:blipFill>
        <p:spPr>
          <a:xfrm>
            <a:off x="7598429" y="1269096"/>
            <a:ext cx="3028950" cy="1514475"/>
          </a:xfrm>
          <a:prstGeom prst="rect">
            <a:avLst/>
          </a:prstGeom>
        </p:spPr>
      </p:pic>
      <p:pic>
        <p:nvPicPr>
          <p:cNvPr id="10" name="Picture 9">
            <a:extLst>
              <a:ext uri="{FF2B5EF4-FFF2-40B4-BE49-F238E27FC236}">
                <a16:creationId xmlns:a16="http://schemas.microsoft.com/office/drawing/2014/main" id="{0B54B44C-2311-E830-6A8C-F43453CDA1CB}"/>
              </a:ext>
            </a:extLst>
          </p:cNvPr>
          <p:cNvPicPr>
            <a:picLocks noChangeAspect="1"/>
          </p:cNvPicPr>
          <p:nvPr/>
        </p:nvPicPr>
        <p:blipFill>
          <a:blip r:embed="rId4"/>
          <a:stretch>
            <a:fillRect/>
          </a:stretch>
        </p:blipFill>
        <p:spPr>
          <a:xfrm>
            <a:off x="5446060" y="3201932"/>
            <a:ext cx="2834528" cy="2834528"/>
          </a:xfrm>
          <a:prstGeom prst="rect">
            <a:avLst/>
          </a:prstGeom>
        </p:spPr>
      </p:pic>
      <p:pic>
        <p:nvPicPr>
          <p:cNvPr id="11" name="Picture 10" descr="Light-Emitting Diodes (LEDs) - SparkFun ...">
            <a:extLst>
              <a:ext uri="{FF2B5EF4-FFF2-40B4-BE49-F238E27FC236}">
                <a16:creationId xmlns:a16="http://schemas.microsoft.com/office/drawing/2014/main" id="{DD997F51-A2BA-6CF6-14D6-CD9B9D0BCF56}"/>
              </a:ext>
            </a:extLst>
          </p:cNvPr>
          <p:cNvPicPr>
            <a:picLocks noChangeAspect="1"/>
          </p:cNvPicPr>
          <p:nvPr/>
        </p:nvPicPr>
        <p:blipFill>
          <a:blip r:embed="rId5"/>
          <a:stretch>
            <a:fillRect/>
          </a:stretch>
        </p:blipFill>
        <p:spPr>
          <a:xfrm>
            <a:off x="8590149" y="3724937"/>
            <a:ext cx="2143125" cy="2143125"/>
          </a:xfrm>
          <a:prstGeom prst="rect">
            <a:avLst/>
          </a:prstGeom>
        </p:spPr>
      </p:pic>
    </p:spTree>
    <p:extLst>
      <p:ext uri="{BB962C8B-B14F-4D97-AF65-F5344CB8AC3E}">
        <p14:creationId xmlns:p14="http://schemas.microsoft.com/office/powerpoint/2010/main" val="2879444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6CF0DD-A9BF-9C3C-5863-D28F5CD9B1E2}"/>
              </a:ext>
            </a:extLst>
          </p:cNvPr>
          <p:cNvSpPr>
            <a:spLocks noGrp="1"/>
          </p:cNvSpPr>
          <p:nvPr>
            <p:ph idx="1"/>
          </p:nvPr>
        </p:nvSpPr>
        <p:spPr>
          <a:xfrm>
            <a:off x="698621" y="215564"/>
            <a:ext cx="10364452" cy="4127837"/>
          </a:xfrm>
        </p:spPr>
        <p:txBody>
          <a:bodyPr>
            <a:normAutofit fontScale="77500" lnSpcReduction="20000"/>
          </a:bodyPr>
          <a:lstStyle/>
          <a:p>
            <a:pPr marL="0" indent="0" algn="ctr">
              <a:buNone/>
            </a:pPr>
            <a:r>
              <a:rPr lang="en-US" sz="3600" b="1" cap="none" baseline="-25000" dirty="0">
                <a:latin typeface="Times New Roman" panose="02020603050405020304" pitchFamily="18" charset="0"/>
                <a:cs typeface="Times New Roman" panose="02020603050405020304" pitchFamily="18" charset="0"/>
              </a:rPr>
              <a:t>Schematic design</a:t>
            </a:r>
          </a:p>
          <a:p>
            <a:pPr marL="0" indent="0" algn="just">
              <a:buNone/>
            </a:pPr>
            <a:r>
              <a:rPr lang="en-US" sz="3600" cap="none" baseline="-25000" dirty="0">
                <a:latin typeface="Times New Roman" panose="02020603050405020304" pitchFamily="18" charset="0"/>
                <a:cs typeface="Times New Roman" panose="02020603050405020304" pitchFamily="18" charset="0"/>
              </a:rPr>
              <a:t>The NE555 timer circuit was designed using the schematic editor in KiCad. Components such as resistors, capacitors, LED, connector, and NE555 IC were connected according to the circuit requirements.</a:t>
            </a:r>
          </a:p>
          <a:p>
            <a:pPr marL="0" indent="0" algn="just">
              <a:buNone/>
            </a:pPr>
            <a:endParaRPr lang="en-US" sz="3600" cap="none" baseline="-25000" dirty="0">
              <a:latin typeface="Times New Roman" panose="02020603050405020304" pitchFamily="18" charset="0"/>
              <a:cs typeface="Times New Roman" panose="02020603050405020304" pitchFamily="18" charset="0"/>
            </a:endParaRPr>
          </a:p>
          <a:p>
            <a:pPr marL="0" indent="0" algn="just">
              <a:buNone/>
            </a:pPr>
            <a:endParaRPr lang="en-US" sz="3600" b="1" cap="none" baseline="-25000" dirty="0">
              <a:latin typeface="Times New Roman" panose="02020603050405020304" pitchFamily="18" charset="0"/>
              <a:cs typeface="Times New Roman" panose="02020603050405020304" pitchFamily="18" charset="0"/>
            </a:endParaRPr>
          </a:p>
          <a:p>
            <a:pPr marL="0" indent="0" algn="just">
              <a:buNone/>
            </a:pPr>
            <a:endParaRPr lang="en-US" sz="3600" b="1" cap="none" baseline="-25000" dirty="0">
              <a:latin typeface="Times New Roman" panose="02020603050405020304" pitchFamily="18" charset="0"/>
              <a:cs typeface="Times New Roman" panose="02020603050405020304" pitchFamily="18" charset="0"/>
            </a:endParaRPr>
          </a:p>
          <a:p>
            <a:pPr marL="0" indent="0" algn="just">
              <a:buNone/>
            </a:pPr>
            <a:endParaRPr lang="en-US" sz="3600" b="1" cap="none" baseline="-25000" dirty="0">
              <a:latin typeface="Times New Roman" panose="02020603050405020304" pitchFamily="18" charset="0"/>
              <a:cs typeface="Times New Roman" panose="02020603050405020304" pitchFamily="18" charset="0"/>
            </a:endParaRPr>
          </a:p>
          <a:p>
            <a:pPr marL="0" indent="0" algn="just">
              <a:buNone/>
            </a:pPr>
            <a:endParaRPr lang="en-US" sz="3600" b="1" cap="none" baseline="-25000" dirty="0">
              <a:latin typeface="Times New Roman" panose="02020603050405020304" pitchFamily="18" charset="0"/>
              <a:cs typeface="Times New Roman" panose="02020603050405020304" pitchFamily="18" charset="0"/>
            </a:endParaRPr>
          </a:p>
          <a:p>
            <a:pPr marL="0" indent="0" algn="just">
              <a:buNone/>
            </a:pPr>
            <a:r>
              <a:rPr lang="en-US" sz="3600" b="1" cap="none" baseline="-25000" dirty="0">
                <a:latin typeface="Times New Roman" panose="02020603050405020304" pitchFamily="18" charset="0"/>
                <a:cs typeface="Times New Roman" panose="02020603050405020304" pitchFamily="18" charset="0"/>
              </a:rPr>
              <a:t> </a:t>
            </a:r>
            <a:endParaRPr lang="en-US" sz="3600" cap="none" baseline="-25000" dirty="0">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9C6949F3-7E84-915A-C92A-9FB4FE9D6639}"/>
              </a:ext>
            </a:extLst>
          </p:cNvPr>
          <p:cNvPicPr>
            <a:picLocks noChangeAspect="1"/>
          </p:cNvPicPr>
          <p:nvPr/>
        </p:nvPicPr>
        <p:blipFill>
          <a:blip r:embed="rId2"/>
          <a:stretch>
            <a:fillRect/>
          </a:stretch>
        </p:blipFill>
        <p:spPr>
          <a:xfrm>
            <a:off x="1536296" y="1546776"/>
            <a:ext cx="9361456" cy="4934296"/>
          </a:xfrm>
          <a:prstGeom prst="rect">
            <a:avLst/>
          </a:prstGeom>
        </p:spPr>
      </p:pic>
    </p:spTree>
    <p:extLst>
      <p:ext uri="{BB962C8B-B14F-4D97-AF65-F5344CB8AC3E}">
        <p14:creationId xmlns:p14="http://schemas.microsoft.com/office/powerpoint/2010/main" val="1423889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FB1997A-3BC0-8C46-A587-DBF7855F259A}"/>
              </a:ext>
            </a:extLst>
          </p:cNvPr>
          <p:cNvPicPr>
            <a:picLocks noGrp="1" noChangeAspect="1"/>
          </p:cNvPicPr>
          <p:nvPr>
            <p:ph idx="1"/>
          </p:nvPr>
        </p:nvPicPr>
        <p:blipFill>
          <a:blip r:embed="rId2"/>
          <a:stretch>
            <a:fillRect/>
          </a:stretch>
        </p:blipFill>
        <p:spPr>
          <a:xfrm>
            <a:off x="913606" y="1201603"/>
            <a:ext cx="10364788" cy="5463138"/>
          </a:xfrm>
          <a:prstGeom prst="rect">
            <a:avLst/>
          </a:prstGeom>
        </p:spPr>
      </p:pic>
      <p:sp>
        <p:nvSpPr>
          <p:cNvPr id="7" name="TextBox 6">
            <a:extLst>
              <a:ext uri="{FF2B5EF4-FFF2-40B4-BE49-F238E27FC236}">
                <a16:creationId xmlns:a16="http://schemas.microsoft.com/office/drawing/2014/main" id="{635DEE07-0244-1BDF-D183-8A60AE4CE786}"/>
              </a:ext>
            </a:extLst>
          </p:cNvPr>
          <p:cNvSpPr txBox="1"/>
          <p:nvPr/>
        </p:nvSpPr>
        <p:spPr>
          <a:xfrm>
            <a:off x="913606" y="1274"/>
            <a:ext cx="10364788" cy="923330"/>
          </a:xfrm>
          <a:prstGeom prst="rect">
            <a:avLst/>
          </a:prstGeom>
          <a:noFill/>
        </p:spPr>
        <p:txBody>
          <a:bodyPr wrap="square">
            <a:spAutoFit/>
          </a:bodyPr>
          <a:lstStyle/>
          <a:p>
            <a:pPr algn="ctr">
              <a:buNone/>
            </a:pPr>
            <a:r>
              <a:rPr lang="en-US" b="1" dirty="0"/>
              <a:t>ERC Verification</a:t>
            </a:r>
          </a:p>
          <a:p>
            <a:pPr>
              <a:buNone/>
            </a:pPr>
            <a:r>
              <a:rPr lang="en-US" dirty="0"/>
              <a:t>Electrical Rule Check (ERC) was performed to identify electrical and connection errors in the schematic. The circuit successfully passed ERC verification with zero errors.</a:t>
            </a:r>
          </a:p>
        </p:txBody>
      </p:sp>
    </p:spTree>
    <p:extLst>
      <p:ext uri="{BB962C8B-B14F-4D97-AF65-F5344CB8AC3E}">
        <p14:creationId xmlns:p14="http://schemas.microsoft.com/office/powerpoint/2010/main" val="1611360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1E92013-0666-2400-A981-D1AE620BCE90}"/>
              </a:ext>
            </a:extLst>
          </p:cNvPr>
          <p:cNvPicPr>
            <a:picLocks noGrp="1" noChangeAspect="1"/>
          </p:cNvPicPr>
          <p:nvPr>
            <p:ph idx="1"/>
          </p:nvPr>
        </p:nvPicPr>
        <p:blipFill>
          <a:blip r:embed="rId2"/>
          <a:stretch>
            <a:fillRect/>
          </a:stretch>
        </p:blipFill>
        <p:spPr>
          <a:xfrm>
            <a:off x="1526962" y="1528448"/>
            <a:ext cx="8699081" cy="4899246"/>
          </a:xfrm>
          <a:prstGeom prst="rect">
            <a:avLst/>
          </a:prstGeom>
        </p:spPr>
      </p:pic>
      <p:sp>
        <p:nvSpPr>
          <p:cNvPr id="7" name="TextBox 6">
            <a:extLst>
              <a:ext uri="{FF2B5EF4-FFF2-40B4-BE49-F238E27FC236}">
                <a16:creationId xmlns:a16="http://schemas.microsoft.com/office/drawing/2014/main" id="{7FA1B01E-69B5-E028-0C18-D82B36A1FD72}"/>
              </a:ext>
            </a:extLst>
          </p:cNvPr>
          <p:cNvSpPr txBox="1"/>
          <p:nvPr/>
        </p:nvSpPr>
        <p:spPr>
          <a:xfrm>
            <a:off x="833718" y="277923"/>
            <a:ext cx="10152530" cy="1015663"/>
          </a:xfrm>
          <a:prstGeom prst="rect">
            <a:avLst/>
          </a:prstGeom>
          <a:noFill/>
        </p:spPr>
        <p:txBody>
          <a:bodyPr wrap="square">
            <a:spAutoFit/>
          </a:bodyPr>
          <a:lstStyle/>
          <a:p>
            <a:pPr algn="ctr">
              <a:buNone/>
            </a:pPr>
            <a:r>
              <a:rPr lang="en-US" sz="2000" b="1" dirty="0">
                <a:latin typeface="Times New Roman" panose="02020603050405020304" pitchFamily="18" charset="0"/>
                <a:cs typeface="Times New Roman" panose="02020603050405020304" pitchFamily="18" charset="0"/>
              </a:rPr>
              <a:t>Footprint Assignment</a:t>
            </a:r>
          </a:p>
          <a:p>
            <a:pPr algn="just">
              <a:buNone/>
            </a:pPr>
            <a:r>
              <a:rPr lang="en-US" sz="2000" dirty="0">
                <a:latin typeface="Times New Roman" panose="02020603050405020304" pitchFamily="18" charset="0"/>
                <a:cs typeface="Times New Roman" panose="02020603050405020304" pitchFamily="18" charset="0"/>
              </a:rPr>
              <a:t>Appropriate PCB footprints were assigned to all components to define their physical size and placement on the PCB board.</a:t>
            </a:r>
          </a:p>
        </p:txBody>
      </p:sp>
    </p:spTree>
    <p:extLst>
      <p:ext uri="{BB962C8B-B14F-4D97-AF65-F5344CB8AC3E}">
        <p14:creationId xmlns:p14="http://schemas.microsoft.com/office/powerpoint/2010/main" val="813497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AF13DE-8213-3990-8E1D-D30595DFA8B6}"/>
              </a:ext>
            </a:extLst>
          </p:cNvPr>
          <p:cNvSpPr>
            <a:spLocks noGrp="1"/>
          </p:cNvSpPr>
          <p:nvPr>
            <p:ph idx="1"/>
          </p:nvPr>
        </p:nvSpPr>
        <p:spPr>
          <a:xfrm>
            <a:off x="913774" y="444164"/>
            <a:ext cx="10364452" cy="5270836"/>
          </a:xfrm>
        </p:spPr>
        <p:txBody>
          <a:bodyPr>
            <a:normAutofit/>
          </a:bodyPr>
          <a:lstStyle/>
          <a:p>
            <a:pPr algn="just"/>
            <a:r>
              <a:rPr lang="en-US" b="1" cap="none" dirty="0">
                <a:latin typeface="Times New Roman" panose="02020603050405020304" pitchFamily="18" charset="0"/>
                <a:cs typeface="Times New Roman" panose="02020603050405020304" pitchFamily="18" charset="0"/>
              </a:rPr>
              <a:t>PCB layout design</a:t>
            </a:r>
          </a:p>
          <a:p>
            <a:pPr marL="0" indent="0" algn="just">
              <a:buNone/>
            </a:pPr>
            <a:r>
              <a:rPr lang="en-US" cap="none" dirty="0">
                <a:latin typeface="Times New Roman" panose="02020603050405020304" pitchFamily="18" charset="0"/>
                <a:cs typeface="Times New Roman" panose="02020603050405020304" pitchFamily="18" charset="0"/>
              </a:rPr>
              <a:t>The schematic was converted into PCB layout format using the KiCad PCB editor.</a:t>
            </a:r>
          </a:p>
          <a:p>
            <a:pPr algn="just"/>
            <a:r>
              <a:rPr lang="en-US" b="1" cap="none" dirty="0">
                <a:latin typeface="Times New Roman" panose="02020603050405020304" pitchFamily="18" charset="0"/>
                <a:cs typeface="Times New Roman" panose="02020603050405020304" pitchFamily="18" charset="0"/>
              </a:rPr>
              <a:t>Component placement</a:t>
            </a:r>
          </a:p>
          <a:p>
            <a:pPr marL="0" indent="0" algn="just">
              <a:buNone/>
            </a:pPr>
            <a:r>
              <a:rPr lang="en-US" cap="none" dirty="0">
                <a:latin typeface="Times New Roman" panose="02020603050405020304" pitchFamily="18" charset="0"/>
                <a:cs typeface="Times New Roman" panose="02020603050405020304" pitchFamily="18" charset="0"/>
              </a:rPr>
              <a:t>All components were arranged properly to ensure compact design, easier routing, and better circuit organization.</a:t>
            </a:r>
          </a:p>
          <a:p>
            <a:pPr algn="just"/>
            <a:r>
              <a:rPr lang="en-US" b="1" cap="none" dirty="0">
                <a:latin typeface="Times New Roman" panose="02020603050405020304" pitchFamily="18" charset="0"/>
                <a:cs typeface="Times New Roman" panose="02020603050405020304" pitchFamily="18" charset="0"/>
              </a:rPr>
              <a:t>PCB routing</a:t>
            </a:r>
          </a:p>
          <a:p>
            <a:pPr marL="0" indent="0" algn="just">
              <a:buNone/>
            </a:pPr>
            <a:r>
              <a:rPr lang="en-US" cap="none" dirty="0">
                <a:latin typeface="Times New Roman" panose="02020603050405020304" pitchFamily="18" charset="0"/>
                <a:cs typeface="Times New Roman" panose="02020603050405020304" pitchFamily="18" charset="0"/>
              </a:rPr>
              <a:t>Copper tracks were routed between component pads to establish electrical connections on the PCB.</a:t>
            </a:r>
          </a:p>
          <a:p>
            <a:pPr algn="just"/>
            <a:r>
              <a:rPr lang="en-US" b="1" cap="none" dirty="0">
                <a:latin typeface="Times New Roman" panose="02020603050405020304" pitchFamily="18" charset="0"/>
                <a:cs typeface="Times New Roman" panose="02020603050405020304" pitchFamily="18" charset="0"/>
              </a:rPr>
              <a:t>Board outline creation</a:t>
            </a:r>
          </a:p>
          <a:p>
            <a:pPr marL="0" indent="0" algn="just">
              <a:buNone/>
            </a:pPr>
            <a:r>
              <a:rPr lang="en-US" cap="none" dirty="0">
                <a:latin typeface="Times New Roman" panose="02020603050405020304" pitchFamily="18" charset="0"/>
                <a:cs typeface="Times New Roman" panose="02020603050405020304" pitchFamily="18" charset="0"/>
              </a:rPr>
              <a:t>The PCB boundary was created using the edge. Cuts layer to define the final shape and size of the board.</a:t>
            </a:r>
          </a:p>
          <a:p>
            <a:endParaRPr lang="en-IN" dirty="0"/>
          </a:p>
        </p:txBody>
      </p:sp>
    </p:spTree>
    <p:extLst>
      <p:ext uri="{BB962C8B-B14F-4D97-AF65-F5344CB8AC3E}">
        <p14:creationId xmlns:p14="http://schemas.microsoft.com/office/powerpoint/2010/main" val="2182527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C17C5DF-4A97-46FE-DA78-F1E9382C7DDA}"/>
              </a:ext>
            </a:extLst>
          </p:cNvPr>
          <p:cNvPicPr>
            <a:picLocks noGrp="1" noChangeAspect="1"/>
          </p:cNvPicPr>
          <p:nvPr>
            <p:ph idx="1"/>
          </p:nvPr>
        </p:nvPicPr>
        <p:blipFill>
          <a:blip r:embed="rId2"/>
          <a:stretch>
            <a:fillRect/>
          </a:stretch>
        </p:blipFill>
        <p:spPr>
          <a:xfrm>
            <a:off x="496547" y="477604"/>
            <a:ext cx="11198905" cy="5902791"/>
          </a:xfrm>
          <a:prstGeom prst="rect">
            <a:avLst/>
          </a:prstGeom>
        </p:spPr>
      </p:pic>
    </p:spTree>
    <p:extLst>
      <p:ext uri="{BB962C8B-B14F-4D97-AF65-F5344CB8AC3E}">
        <p14:creationId xmlns:p14="http://schemas.microsoft.com/office/powerpoint/2010/main" val="2871678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E3F6CD-DCA5-9D74-89E1-C781A5E9DDEF}"/>
              </a:ext>
            </a:extLst>
          </p:cNvPr>
          <p:cNvSpPr>
            <a:spLocks noGrp="1"/>
          </p:cNvSpPr>
          <p:nvPr>
            <p:ph idx="1"/>
          </p:nvPr>
        </p:nvSpPr>
        <p:spPr>
          <a:xfrm>
            <a:off x="913774" y="-1"/>
            <a:ext cx="10364452" cy="6441141"/>
          </a:xfrm>
        </p:spPr>
        <p:txBody>
          <a:bodyPr/>
          <a:lstStyle/>
          <a:p>
            <a:pPr marL="0" indent="0" algn="ctr">
              <a:buNone/>
            </a:pPr>
            <a:r>
              <a:rPr lang="en-US" b="1" cap="none" dirty="0">
                <a:latin typeface="Times New Roman" panose="02020603050405020304" pitchFamily="18" charset="0"/>
                <a:cs typeface="Times New Roman" panose="02020603050405020304" pitchFamily="18" charset="0"/>
              </a:rPr>
              <a:t>DRC verification</a:t>
            </a:r>
          </a:p>
          <a:p>
            <a:pPr marL="0" indent="0" algn="just">
              <a:buNone/>
            </a:pPr>
            <a:r>
              <a:rPr lang="en-US" cap="none" dirty="0">
                <a:latin typeface="Times New Roman" panose="02020603050405020304" pitchFamily="18" charset="0"/>
                <a:cs typeface="Times New Roman" panose="02020603050405020304" pitchFamily="18" charset="0"/>
              </a:rPr>
              <a:t>Design rule check (DRC) was performed to verify PCB routing, spacing, and connectivity. The PCB passed verification successfully.</a:t>
            </a:r>
          </a:p>
          <a:p>
            <a:endParaRPr lang="en-IN" dirty="0"/>
          </a:p>
        </p:txBody>
      </p:sp>
      <p:sp>
        <p:nvSpPr>
          <p:cNvPr id="5" name="TextBox 4">
            <a:extLst>
              <a:ext uri="{FF2B5EF4-FFF2-40B4-BE49-F238E27FC236}">
                <a16:creationId xmlns:a16="http://schemas.microsoft.com/office/drawing/2014/main" id="{90FCD842-933A-F694-0271-68C510680016}"/>
              </a:ext>
            </a:extLst>
          </p:cNvPr>
          <p:cNvSpPr txBox="1"/>
          <p:nvPr/>
        </p:nvSpPr>
        <p:spPr>
          <a:xfrm>
            <a:off x="3049121" y="3237610"/>
            <a:ext cx="6098240" cy="369332"/>
          </a:xfrm>
          <a:prstGeom prst="rect">
            <a:avLst/>
          </a:prstGeom>
          <a:noFill/>
        </p:spPr>
        <p:txBody>
          <a:bodyPr wrap="square">
            <a:spAutoFit/>
          </a:bodyPr>
          <a:lstStyle/>
          <a:p>
            <a:endParaRPr lang="en-IN" dirty="0"/>
          </a:p>
        </p:txBody>
      </p:sp>
      <p:pic>
        <p:nvPicPr>
          <p:cNvPr id="7" name="Picture 6">
            <a:extLst>
              <a:ext uri="{FF2B5EF4-FFF2-40B4-BE49-F238E27FC236}">
                <a16:creationId xmlns:a16="http://schemas.microsoft.com/office/drawing/2014/main" id="{2C71BF9C-3412-5537-86D3-8C8D538C2567}"/>
              </a:ext>
            </a:extLst>
          </p:cNvPr>
          <p:cNvPicPr>
            <a:picLocks noChangeAspect="1"/>
          </p:cNvPicPr>
          <p:nvPr/>
        </p:nvPicPr>
        <p:blipFill>
          <a:blip r:embed="rId2"/>
          <a:stretch>
            <a:fillRect/>
          </a:stretch>
        </p:blipFill>
        <p:spPr>
          <a:xfrm>
            <a:off x="2916331" y="1370679"/>
            <a:ext cx="7236198" cy="5345168"/>
          </a:xfrm>
          <a:prstGeom prst="rect">
            <a:avLst/>
          </a:prstGeom>
        </p:spPr>
      </p:pic>
    </p:spTree>
    <p:extLst>
      <p:ext uri="{BB962C8B-B14F-4D97-AF65-F5344CB8AC3E}">
        <p14:creationId xmlns:p14="http://schemas.microsoft.com/office/powerpoint/2010/main" val="313442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3EFAA2-1BB9-F7B3-0E8B-D442E1A9E219}"/>
              </a:ext>
            </a:extLst>
          </p:cNvPr>
          <p:cNvSpPr>
            <a:spLocks noGrp="1"/>
          </p:cNvSpPr>
          <p:nvPr>
            <p:ph idx="1"/>
          </p:nvPr>
        </p:nvSpPr>
        <p:spPr>
          <a:xfrm>
            <a:off x="959890" y="4893"/>
            <a:ext cx="10364452" cy="3424107"/>
          </a:xfrm>
        </p:spPr>
        <p:txBody>
          <a:bodyPr/>
          <a:lstStyle/>
          <a:p>
            <a:pPr marL="0" indent="0" algn="ctr">
              <a:buNone/>
            </a:pPr>
            <a:r>
              <a:rPr lang="en-US" b="1" cap="none" dirty="0"/>
              <a:t>3D PCB visualization</a:t>
            </a:r>
          </a:p>
          <a:p>
            <a:pPr marL="0" indent="0" algn="just">
              <a:buNone/>
            </a:pPr>
            <a:r>
              <a:rPr lang="en-US" cap="none" dirty="0">
                <a:latin typeface="Times New Roman" panose="02020603050405020304" pitchFamily="18" charset="0"/>
                <a:cs typeface="Times New Roman" panose="02020603050405020304" pitchFamily="18" charset="0"/>
              </a:rPr>
              <a:t>The completed PCB was viewed in 3D mode to inspect component placement and overall board appearance.</a:t>
            </a:r>
          </a:p>
          <a:p>
            <a:pPr marL="0" indent="0">
              <a:buNone/>
            </a:pPr>
            <a:endParaRPr lang="en-IN" dirty="0"/>
          </a:p>
        </p:txBody>
      </p:sp>
      <p:sp>
        <p:nvSpPr>
          <p:cNvPr id="5" name="TextBox 4">
            <a:extLst>
              <a:ext uri="{FF2B5EF4-FFF2-40B4-BE49-F238E27FC236}">
                <a16:creationId xmlns:a16="http://schemas.microsoft.com/office/drawing/2014/main" id="{7843274E-FE0E-990B-2FC8-47854B193BFD}"/>
              </a:ext>
            </a:extLst>
          </p:cNvPr>
          <p:cNvSpPr txBox="1"/>
          <p:nvPr/>
        </p:nvSpPr>
        <p:spPr>
          <a:xfrm>
            <a:off x="3049121" y="3244334"/>
            <a:ext cx="6098240" cy="369332"/>
          </a:xfrm>
          <a:prstGeom prst="rect">
            <a:avLst/>
          </a:prstGeom>
          <a:noFill/>
        </p:spPr>
        <p:txBody>
          <a:bodyPr wrap="square">
            <a:spAutoFit/>
          </a:bodyPr>
          <a:lstStyle/>
          <a:p>
            <a:endParaRPr lang="en-IN" dirty="0"/>
          </a:p>
        </p:txBody>
      </p:sp>
      <p:pic>
        <p:nvPicPr>
          <p:cNvPr id="7" name="Picture 6">
            <a:extLst>
              <a:ext uri="{FF2B5EF4-FFF2-40B4-BE49-F238E27FC236}">
                <a16:creationId xmlns:a16="http://schemas.microsoft.com/office/drawing/2014/main" id="{8352A979-39A6-5F96-9362-FD003041C730}"/>
              </a:ext>
            </a:extLst>
          </p:cNvPr>
          <p:cNvPicPr>
            <a:picLocks noChangeAspect="1"/>
          </p:cNvPicPr>
          <p:nvPr/>
        </p:nvPicPr>
        <p:blipFill>
          <a:blip r:embed="rId2"/>
          <a:stretch>
            <a:fillRect/>
          </a:stretch>
        </p:blipFill>
        <p:spPr>
          <a:xfrm>
            <a:off x="725516" y="1327847"/>
            <a:ext cx="4844952" cy="2730956"/>
          </a:xfrm>
          <a:prstGeom prst="rect">
            <a:avLst/>
          </a:prstGeom>
        </p:spPr>
      </p:pic>
      <p:pic>
        <p:nvPicPr>
          <p:cNvPr id="9" name="Picture 8">
            <a:extLst>
              <a:ext uri="{FF2B5EF4-FFF2-40B4-BE49-F238E27FC236}">
                <a16:creationId xmlns:a16="http://schemas.microsoft.com/office/drawing/2014/main" id="{78110D87-6A74-31BB-EDCD-107771857B1A}"/>
              </a:ext>
            </a:extLst>
          </p:cNvPr>
          <p:cNvPicPr>
            <a:picLocks noChangeAspect="1"/>
          </p:cNvPicPr>
          <p:nvPr/>
        </p:nvPicPr>
        <p:blipFill>
          <a:blip r:embed="rId3"/>
          <a:stretch>
            <a:fillRect/>
          </a:stretch>
        </p:blipFill>
        <p:spPr>
          <a:xfrm>
            <a:off x="6284256" y="1312604"/>
            <a:ext cx="5040085" cy="2838532"/>
          </a:xfrm>
          <a:prstGeom prst="rect">
            <a:avLst/>
          </a:prstGeom>
        </p:spPr>
      </p:pic>
      <p:sp>
        <p:nvSpPr>
          <p:cNvPr id="11" name="TextBox 10">
            <a:extLst>
              <a:ext uri="{FF2B5EF4-FFF2-40B4-BE49-F238E27FC236}">
                <a16:creationId xmlns:a16="http://schemas.microsoft.com/office/drawing/2014/main" id="{09ED83A0-E34C-88B3-8635-5653636FF10F}"/>
              </a:ext>
            </a:extLst>
          </p:cNvPr>
          <p:cNvSpPr txBox="1"/>
          <p:nvPr/>
        </p:nvSpPr>
        <p:spPr>
          <a:xfrm>
            <a:off x="3049121" y="3244334"/>
            <a:ext cx="6098240" cy="369332"/>
          </a:xfrm>
          <a:prstGeom prst="rect">
            <a:avLst/>
          </a:prstGeom>
          <a:noFill/>
        </p:spPr>
        <p:txBody>
          <a:bodyPr wrap="square">
            <a:spAutoFit/>
          </a:bodyPr>
          <a:lstStyle/>
          <a:p>
            <a:endParaRPr lang="en-IN" dirty="0"/>
          </a:p>
        </p:txBody>
      </p:sp>
      <p:pic>
        <p:nvPicPr>
          <p:cNvPr id="13" name="Picture 12">
            <a:extLst>
              <a:ext uri="{FF2B5EF4-FFF2-40B4-BE49-F238E27FC236}">
                <a16:creationId xmlns:a16="http://schemas.microsoft.com/office/drawing/2014/main" id="{BC3BBC46-0461-15F1-589B-0E59AEDD9622}"/>
              </a:ext>
            </a:extLst>
          </p:cNvPr>
          <p:cNvPicPr>
            <a:picLocks noChangeAspect="1"/>
          </p:cNvPicPr>
          <p:nvPr/>
        </p:nvPicPr>
        <p:blipFill>
          <a:blip r:embed="rId4"/>
          <a:stretch>
            <a:fillRect/>
          </a:stretch>
        </p:blipFill>
        <p:spPr>
          <a:xfrm>
            <a:off x="3859717" y="4058803"/>
            <a:ext cx="4849075" cy="2730956"/>
          </a:xfrm>
          <a:prstGeom prst="rect">
            <a:avLst/>
          </a:prstGeom>
        </p:spPr>
      </p:pic>
    </p:spTree>
    <p:extLst>
      <p:ext uri="{BB962C8B-B14F-4D97-AF65-F5344CB8AC3E}">
        <p14:creationId xmlns:p14="http://schemas.microsoft.com/office/powerpoint/2010/main" val="3565200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B114C0-8415-6557-C3A8-2369D823CC4A}"/>
              </a:ext>
            </a:extLst>
          </p:cNvPr>
          <p:cNvSpPr>
            <a:spLocks noGrp="1"/>
          </p:cNvSpPr>
          <p:nvPr>
            <p:ph idx="1"/>
          </p:nvPr>
        </p:nvSpPr>
        <p:spPr>
          <a:xfrm>
            <a:off x="617940" y="296246"/>
            <a:ext cx="10364452" cy="3424107"/>
          </a:xfrm>
        </p:spPr>
        <p:txBody>
          <a:bodyPr/>
          <a:lstStyle/>
          <a:p>
            <a:pPr marL="0" indent="0" algn="ctr">
              <a:buNone/>
            </a:pPr>
            <a:r>
              <a:rPr lang="en-US" b="1" cap="none" dirty="0"/>
              <a:t>Gerber file generation</a:t>
            </a:r>
          </a:p>
          <a:p>
            <a:pPr marL="0" indent="0" algn="ctr">
              <a:buNone/>
            </a:pPr>
            <a:r>
              <a:rPr lang="en-US" cap="none" dirty="0"/>
              <a:t>Gerber and drill files were generated for PCB manufacturing and fabrication purposes.</a:t>
            </a:r>
          </a:p>
          <a:p>
            <a:endParaRPr lang="en-IN" dirty="0"/>
          </a:p>
        </p:txBody>
      </p:sp>
      <p:sp>
        <p:nvSpPr>
          <p:cNvPr id="5" name="TextBox 4">
            <a:extLst>
              <a:ext uri="{FF2B5EF4-FFF2-40B4-BE49-F238E27FC236}">
                <a16:creationId xmlns:a16="http://schemas.microsoft.com/office/drawing/2014/main" id="{6D4BF32D-6094-1884-25DA-0F0DA40B4419}"/>
              </a:ext>
            </a:extLst>
          </p:cNvPr>
          <p:cNvSpPr txBox="1"/>
          <p:nvPr/>
        </p:nvSpPr>
        <p:spPr>
          <a:xfrm>
            <a:off x="3049121" y="3244334"/>
            <a:ext cx="6098240" cy="369332"/>
          </a:xfrm>
          <a:prstGeom prst="rect">
            <a:avLst/>
          </a:prstGeom>
          <a:noFill/>
        </p:spPr>
        <p:txBody>
          <a:bodyPr wrap="square">
            <a:spAutoFit/>
          </a:bodyPr>
          <a:lstStyle/>
          <a:p>
            <a:endParaRPr lang="en-IN" dirty="0"/>
          </a:p>
        </p:txBody>
      </p:sp>
      <p:pic>
        <p:nvPicPr>
          <p:cNvPr id="7" name="Picture 6">
            <a:extLst>
              <a:ext uri="{FF2B5EF4-FFF2-40B4-BE49-F238E27FC236}">
                <a16:creationId xmlns:a16="http://schemas.microsoft.com/office/drawing/2014/main" id="{290A491C-CA35-B2E4-A8F1-F58475C58E10}"/>
              </a:ext>
            </a:extLst>
          </p:cNvPr>
          <p:cNvPicPr>
            <a:picLocks noChangeAspect="1"/>
          </p:cNvPicPr>
          <p:nvPr/>
        </p:nvPicPr>
        <p:blipFill>
          <a:blip r:embed="rId2"/>
          <a:stretch>
            <a:fillRect/>
          </a:stretch>
        </p:blipFill>
        <p:spPr>
          <a:xfrm>
            <a:off x="2330405" y="1514213"/>
            <a:ext cx="7286618" cy="5047541"/>
          </a:xfrm>
          <a:prstGeom prst="rect">
            <a:avLst/>
          </a:prstGeom>
        </p:spPr>
      </p:pic>
      <p:sp>
        <p:nvSpPr>
          <p:cNvPr id="9" name="TextBox 8">
            <a:extLst>
              <a:ext uri="{FF2B5EF4-FFF2-40B4-BE49-F238E27FC236}">
                <a16:creationId xmlns:a16="http://schemas.microsoft.com/office/drawing/2014/main" id="{7F9B77A0-C82E-9807-D667-B738BCF4CB5C}"/>
              </a:ext>
            </a:extLst>
          </p:cNvPr>
          <p:cNvSpPr txBox="1"/>
          <p:nvPr/>
        </p:nvSpPr>
        <p:spPr>
          <a:xfrm>
            <a:off x="3049121" y="3244334"/>
            <a:ext cx="6098240" cy="369332"/>
          </a:xfrm>
          <a:prstGeom prst="rect">
            <a:avLst/>
          </a:prstGeom>
          <a:noFill/>
        </p:spPr>
        <p:txBody>
          <a:bodyPr wrap="square">
            <a:spAutoFit/>
          </a:bodyPr>
          <a:lstStyle/>
          <a:p>
            <a:endParaRPr lang="en-IN" dirty="0"/>
          </a:p>
        </p:txBody>
      </p:sp>
    </p:spTree>
    <p:extLst>
      <p:ext uri="{BB962C8B-B14F-4D97-AF65-F5344CB8AC3E}">
        <p14:creationId xmlns:p14="http://schemas.microsoft.com/office/powerpoint/2010/main" val="1628129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576BED4-123C-2B87-01E6-BAD713CD2F0D}"/>
              </a:ext>
            </a:extLst>
          </p:cNvPr>
          <p:cNvPicPr>
            <a:picLocks noGrp="1" noChangeAspect="1"/>
          </p:cNvPicPr>
          <p:nvPr>
            <p:ph idx="1"/>
          </p:nvPr>
        </p:nvPicPr>
        <p:blipFill>
          <a:blip r:embed="rId2"/>
          <a:stretch>
            <a:fillRect/>
          </a:stretch>
        </p:blipFill>
        <p:spPr>
          <a:xfrm>
            <a:off x="749271" y="610812"/>
            <a:ext cx="10693457" cy="5636376"/>
          </a:xfrm>
          <a:prstGeom prst="rect">
            <a:avLst/>
          </a:prstGeom>
        </p:spPr>
      </p:pic>
    </p:spTree>
    <p:extLst>
      <p:ext uri="{BB962C8B-B14F-4D97-AF65-F5344CB8AC3E}">
        <p14:creationId xmlns:p14="http://schemas.microsoft.com/office/powerpoint/2010/main" val="160080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50D10-2DA5-224C-ACD0-CA8E61D386C5}"/>
              </a:ext>
            </a:extLst>
          </p:cNvPr>
          <p:cNvSpPr>
            <a:spLocks noGrp="1"/>
          </p:cNvSpPr>
          <p:nvPr>
            <p:ph type="title"/>
          </p:nvPr>
        </p:nvSpPr>
        <p:spPr>
          <a:xfrm>
            <a:off x="616011" y="443705"/>
            <a:ext cx="10959978" cy="1596177"/>
          </a:xfrm>
        </p:spPr>
        <p:txBody>
          <a:bodyPr/>
          <a:lstStyle/>
          <a:p>
            <a:r>
              <a:rPr lang="en-US" dirty="0"/>
              <a:t>PCB Manufacturing and Gerber File Processing</a:t>
            </a:r>
            <a:br>
              <a:rPr lang="en-US" b="1" dirty="0"/>
            </a:br>
            <a:endParaRPr lang="en-IN" dirty="0"/>
          </a:p>
        </p:txBody>
      </p:sp>
      <p:sp>
        <p:nvSpPr>
          <p:cNvPr id="3" name="Content Placeholder 2">
            <a:extLst>
              <a:ext uri="{FF2B5EF4-FFF2-40B4-BE49-F238E27FC236}">
                <a16:creationId xmlns:a16="http://schemas.microsoft.com/office/drawing/2014/main" id="{BE24AF7F-E0C6-E60B-52DA-7EFCD1A7AE12}"/>
              </a:ext>
            </a:extLst>
          </p:cNvPr>
          <p:cNvSpPr>
            <a:spLocks noGrp="1"/>
          </p:cNvSpPr>
          <p:nvPr>
            <p:ph idx="1"/>
          </p:nvPr>
        </p:nvSpPr>
        <p:spPr>
          <a:xfrm>
            <a:off x="913775" y="1600201"/>
            <a:ext cx="10364452" cy="4935070"/>
          </a:xfrm>
        </p:spPr>
        <p:txBody>
          <a:bodyPr>
            <a:normAutofit/>
          </a:bodyPr>
          <a:lstStyle/>
          <a:p>
            <a:pPr algn="just"/>
            <a:r>
              <a:rPr lang="en-US" cap="none" dirty="0">
                <a:latin typeface="Times New Roman" panose="02020603050405020304" pitchFamily="18" charset="0"/>
                <a:cs typeface="Times New Roman" panose="02020603050405020304" pitchFamily="18" charset="0"/>
              </a:rPr>
              <a:t>Gerber files contain the complete manufacturing data of the PCB design. </a:t>
            </a:r>
          </a:p>
          <a:p>
            <a:pPr algn="just"/>
            <a:r>
              <a:rPr lang="en-US" cap="none" dirty="0">
                <a:latin typeface="Times New Roman" panose="02020603050405020304" pitchFamily="18" charset="0"/>
                <a:cs typeface="Times New Roman" panose="02020603050405020304" pitchFamily="18" charset="0"/>
              </a:rPr>
              <a:t>These files include copper layers, drill holes, solder mask, silkscreen, and </a:t>
            </a:r>
            <a:r>
              <a:rPr lang="en-US" cap="none" dirty="0" err="1">
                <a:latin typeface="Times New Roman" panose="02020603050405020304" pitchFamily="18" charset="0"/>
                <a:cs typeface="Times New Roman" panose="02020603050405020304" pitchFamily="18" charset="0"/>
              </a:rPr>
              <a:t>pcb</a:t>
            </a:r>
            <a:r>
              <a:rPr lang="en-US" cap="none" dirty="0">
                <a:latin typeface="Times New Roman" panose="02020603050405020304" pitchFamily="18" charset="0"/>
                <a:cs typeface="Times New Roman" panose="02020603050405020304" pitchFamily="18" charset="0"/>
              </a:rPr>
              <a:t> outline information. </a:t>
            </a:r>
          </a:p>
          <a:p>
            <a:pPr algn="just"/>
            <a:r>
              <a:rPr lang="en-US" cap="none" dirty="0">
                <a:latin typeface="Times New Roman" panose="02020603050405020304" pitchFamily="18" charset="0"/>
                <a:cs typeface="Times New Roman" panose="02020603050405020304" pitchFamily="18" charset="0"/>
              </a:rPr>
              <a:t>PCB manufacturing machines read gerber files using precise x-y coordinate systems. </a:t>
            </a:r>
          </a:p>
          <a:p>
            <a:pPr algn="just"/>
            <a:r>
              <a:rPr lang="en-US" cap="none" dirty="0">
                <a:latin typeface="Times New Roman" panose="02020603050405020304" pitchFamily="18" charset="0"/>
                <a:cs typeface="Times New Roman" panose="02020603050405020304" pitchFamily="18" charset="0"/>
              </a:rPr>
              <a:t>CNC drilling machines use drill data to create accurate component holes on the PCB. </a:t>
            </a:r>
          </a:p>
          <a:p>
            <a:pPr algn="just"/>
            <a:r>
              <a:rPr lang="en-US" cap="none" dirty="0">
                <a:latin typeface="Times New Roman" panose="02020603050405020304" pitchFamily="18" charset="0"/>
                <a:cs typeface="Times New Roman" panose="02020603050405020304" pitchFamily="18" charset="0"/>
              </a:rPr>
              <a:t>SMT pick-and-place machines use component coordinates and rotation angles for automatic assembly. </a:t>
            </a:r>
          </a:p>
          <a:p>
            <a:pPr algn="just"/>
            <a:r>
              <a:rPr lang="en-US" cap="none" dirty="0">
                <a:latin typeface="Times New Roman" panose="02020603050405020304" pitchFamily="18" charset="0"/>
                <a:cs typeface="Times New Roman" panose="02020603050405020304" pitchFamily="18" charset="0"/>
              </a:rPr>
              <a:t>The manufacturing process is based on geometrical and mathematical positioning for high precision. </a:t>
            </a:r>
          </a:p>
          <a:p>
            <a:pPr algn="just"/>
            <a:r>
              <a:rPr lang="en-US" cap="none" dirty="0">
                <a:latin typeface="Times New Roman" panose="02020603050405020304" pitchFamily="18" charset="0"/>
                <a:cs typeface="Times New Roman" panose="02020603050405020304" pitchFamily="18" charset="0"/>
              </a:rPr>
              <a:t>After gerber file generation, the </a:t>
            </a:r>
            <a:r>
              <a:rPr lang="en-US" cap="none" dirty="0" err="1">
                <a:latin typeface="Times New Roman" panose="02020603050405020304" pitchFamily="18" charset="0"/>
                <a:cs typeface="Times New Roman" panose="02020603050405020304" pitchFamily="18" charset="0"/>
              </a:rPr>
              <a:t>pcb</a:t>
            </a:r>
            <a:r>
              <a:rPr lang="en-US" cap="none" dirty="0">
                <a:latin typeface="Times New Roman" panose="02020603050405020304" pitchFamily="18" charset="0"/>
                <a:cs typeface="Times New Roman" panose="02020603050405020304" pitchFamily="18" charset="0"/>
              </a:rPr>
              <a:t> becomes ready for industrial fabrication and assembly. </a:t>
            </a:r>
          </a:p>
          <a:p>
            <a:endParaRPr lang="en-IN" dirty="0"/>
          </a:p>
        </p:txBody>
      </p:sp>
    </p:spTree>
    <p:extLst>
      <p:ext uri="{BB962C8B-B14F-4D97-AF65-F5344CB8AC3E}">
        <p14:creationId xmlns:p14="http://schemas.microsoft.com/office/powerpoint/2010/main" val="1815121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C6AF3-0FAB-489C-D755-81A1B020914B}"/>
              </a:ext>
            </a:extLst>
          </p:cNvPr>
          <p:cNvSpPr>
            <a:spLocks noGrp="1"/>
          </p:cNvSpPr>
          <p:nvPr>
            <p:ph type="title"/>
          </p:nvPr>
        </p:nvSpPr>
        <p:spPr>
          <a:xfrm>
            <a:off x="913775" y="268893"/>
            <a:ext cx="10364451" cy="1596177"/>
          </a:xfrm>
        </p:spPr>
        <p:txBody>
          <a:bodyPr/>
          <a:lstStyle/>
          <a:p>
            <a:r>
              <a:rPr lang="en-US" dirty="0"/>
              <a:t>CONCLUSION </a:t>
            </a:r>
            <a:endParaRPr lang="en-IN" dirty="0"/>
          </a:p>
        </p:txBody>
      </p:sp>
      <p:sp>
        <p:nvSpPr>
          <p:cNvPr id="3" name="Content Placeholder 2">
            <a:extLst>
              <a:ext uri="{FF2B5EF4-FFF2-40B4-BE49-F238E27FC236}">
                <a16:creationId xmlns:a16="http://schemas.microsoft.com/office/drawing/2014/main" id="{0F3CD685-49E4-87BA-EC08-15719C70EA93}"/>
              </a:ext>
            </a:extLst>
          </p:cNvPr>
          <p:cNvSpPr>
            <a:spLocks noGrp="1"/>
          </p:cNvSpPr>
          <p:nvPr>
            <p:ph idx="1"/>
          </p:nvPr>
        </p:nvSpPr>
        <p:spPr>
          <a:xfrm>
            <a:off x="913774" y="2004023"/>
            <a:ext cx="10364452" cy="4262307"/>
          </a:xfrm>
        </p:spPr>
        <p:txBody>
          <a:bodyPr/>
          <a:lstStyle/>
          <a:p>
            <a:pPr marL="0" indent="0" algn="just">
              <a:buNone/>
            </a:pPr>
            <a:r>
              <a:rPr lang="en-US" cap="none" dirty="0">
                <a:latin typeface="Times New Roman" panose="02020603050405020304" pitchFamily="18" charset="0"/>
                <a:cs typeface="Times New Roman" panose="02020603050405020304" pitchFamily="18" charset="0"/>
              </a:rPr>
              <a:t>The blinking LED timer circuit using the NE555 timer IC was successfully designed and implemented using KiCad. The project included schematic creation, ERC verification, footprint assignment, PCB routing, DRC verification, 3D visualization, and gerber file generation. Through this project, the complete PCB design and manufacturing workflow was understood, and the final PCB design was prepared successfully for industrial fabrication.</a:t>
            </a:r>
          </a:p>
          <a:p>
            <a:endParaRPr lang="en-IN" dirty="0"/>
          </a:p>
        </p:txBody>
      </p:sp>
    </p:spTree>
    <p:extLst>
      <p:ext uri="{BB962C8B-B14F-4D97-AF65-F5344CB8AC3E}">
        <p14:creationId xmlns:p14="http://schemas.microsoft.com/office/powerpoint/2010/main" val="3680645319"/>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Droplet</Template>
  <TotalTime>100</TotalTime>
  <Words>557</Words>
  <Application>Microsoft Office PowerPoint</Application>
  <PresentationFormat>Widescreen</PresentationFormat>
  <Paragraphs>66</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Times New Roman</vt:lpstr>
      <vt:lpstr>Tw Cen MT</vt:lpstr>
      <vt:lpstr>Droplet</vt:lpstr>
      <vt:lpstr>PROJECT TITLE   NE555 LED Blinking Timer Circuit</vt:lpstr>
      <vt:lpstr>Introduction</vt:lpstr>
      <vt:lpstr>PROJECT Design Flow</vt:lpstr>
      <vt:lpstr>COMPONENTS USED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PCB Manufacturing and Gerber File Processing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Mahesh</dc:creator>
  <cp:lastModifiedBy>jeevan yaranal</cp:lastModifiedBy>
  <cp:revision>3</cp:revision>
  <dcterms:created xsi:type="dcterms:W3CDTF">2026-05-07T17:45:12Z</dcterms:created>
  <dcterms:modified xsi:type="dcterms:W3CDTF">2026-05-08T12:21:49Z</dcterms:modified>
</cp:coreProperties>
</file>